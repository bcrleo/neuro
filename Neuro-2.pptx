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61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461"/>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A4B2F-BC9D-41E1-8407-27B6D02BD224}" type="datetimeFigureOut">
              <a:rPr lang="en-GB" smtClean="0"/>
              <a:t>13/05/2026</a:t>
            </a:fld>
            <a:endParaRPr lang="en-GB"/>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70CF08-691C-47BD-8323-C27169DE5690}" type="slidenum">
              <a:rPr lang="en-GB" smtClean="0"/>
              <a:t>‹#›</a:t>
            </a:fld>
            <a:endParaRPr lang="en-GB"/>
          </a:p>
        </p:txBody>
      </p:sp>
    </p:spTree>
    <p:extLst>
      <p:ext uri="{BB962C8B-B14F-4D97-AF65-F5344CB8AC3E}">
        <p14:creationId xmlns:p14="http://schemas.microsoft.com/office/powerpoint/2010/main" val="310950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Now we move from pair-level effects to network-level structure. Up to this point, the main result was that directly connected pairs are more functionally similar. The question here is stricter: do the two whole networks have similar topology</a:t>
            </a:r>
            <a:endParaRPr lang="en-GB" dirty="0"/>
          </a:p>
        </p:txBody>
      </p:sp>
      <p:sp>
        <p:nvSpPr>
          <p:cNvPr id="4" name="Slide Number Placeholder 3"/>
          <p:cNvSpPr>
            <a:spLocks noGrp="1"/>
          </p:cNvSpPr>
          <p:nvPr>
            <p:ph type="sldNum" sz="quarter" idx="5"/>
          </p:nvPr>
        </p:nvSpPr>
        <p:spPr/>
        <p:txBody>
          <a:bodyPr/>
          <a:lstStyle/>
          <a:p>
            <a:fld id="{C470CF08-691C-47BD-8323-C27169DE5690}" type="slidenum">
              <a:rPr lang="en-GB" smtClean="0"/>
              <a:t>16</a:t>
            </a:fld>
            <a:endParaRPr lang="en-GB"/>
          </a:p>
        </p:txBody>
      </p:sp>
    </p:spTree>
    <p:extLst>
      <p:ext uri="{BB962C8B-B14F-4D97-AF65-F5344CB8AC3E}">
        <p14:creationId xmlns:p14="http://schemas.microsoft.com/office/powerpoint/2010/main" val="4242617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At the topology level, we are no longer asking whether one connected pair has higher correlation than one unconnected pair. We are asking whether structurally important neurons are also functionally important. So we compare node-level quantities like degree, synaptic strength, and mean functional coupling, and also graph-level quantities like clustering. The main caveat is that the two networks are very different objects: the structural graph is sparse, directed, and synapse-weighted, while the functional graph is dense, symmetric, and signed.</a:t>
            </a:r>
            <a:endParaRPr lang="en-GB" dirty="0"/>
          </a:p>
        </p:txBody>
      </p:sp>
      <p:sp>
        <p:nvSpPr>
          <p:cNvPr id="4" name="Slide Number Placeholder 3"/>
          <p:cNvSpPr>
            <a:spLocks noGrp="1"/>
          </p:cNvSpPr>
          <p:nvPr>
            <p:ph type="sldNum" sz="quarter" idx="5"/>
          </p:nvPr>
        </p:nvSpPr>
        <p:spPr/>
        <p:txBody>
          <a:bodyPr/>
          <a:lstStyle/>
          <a:p>
            <a:fld id="{C470CF08-691C-47BD-8323-C27169DE5690}" type="slidenum">
              <a:rPr lang="en-GB" smtClean="0"/>
              <a:t>17</a:t>
            </a:fld>
            <a:endParaRPr lang="en-GB"/>
          </a:p>
        </p:txBody>
      </p:sp>
    </p:spTree>
    <p:extLst>
      <p:ext uri="{BB962C8B-B14F-4D97-AF65-F5344CB8AC3E}">
        <p14:creationId xmlns:p14="http://schemas.microsoft.com/office/powerpoint/2010/main" val="56845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H7 asks whether structural hubs are functional hubs. The primary result is a partial Spearman correlation of about +0.110 after controlling for distance and area. That is statistically detectable, but it only explains about 1.2% of rank variance, so the effect is very small. When we add stricter controls like cell type or layer, the correlation drops to around +0.06 and is no longer robust after correction. Also, if we ignore sign and use absolute functional correlation, the relationship is basically gone. So the conclusion is not broad hub-to-hub matching, but a narrow weak signed alignment</a:t>
            </a:r>
            <a:endParaRPr lang="en-GB" dirty="0"/>
          </a:p>
        </p:txBody>
      </p:sp>
      <p:sp>
        <p:nvSpPr>
          <p:cNvPr id="4" name="Slide Number Placeholder 3"/>
          <p:cNvSpPr>
            <a:spLocks noGrp="1"/>
          </p:cNvSpPr>
          <p:nvPr>
            <p:ph type="sldNum" sz="quarter" idx="5"/>
          </p:nvPr>
        </p:nvSpPr>
        <p:spPr/>
        <p:txBody>
          <a:bodyPr/>
          <a:lstStyle/>
          <a:p>
            <a:fld id="{C470CF08-691C-47BD-8323-C27169DE5690}" type="slidenum">
              <a:rPr lang="en-GB" smtClean="0"/>
              <a:t>18</a:t>
            </a:fld>
            <a:endParaRPr lang="en-GB"/>
          </a:p>
        </p:txBody>
      </p:sp>
    </p:spTree>
    <p:extLst>
      <p:ext uri="{BB962C8B-B14F-4D97-AF65-F5344CB8AC3E}">
        <p14:creationId xmlns:p14="http://schemas.microsoft.com/office/powerpoint/2010/main" val="3944687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Because the functional matrix is dense, we also tried turning it into a sparse graph by thresholding it at densities matched to the structural graph. Across thresholds from 0.5x to 4x structural density, degree and strength coupling stay near zero, with maximum rho only around 0.03 and all p-values above 0.3. Clustering also looks very different: structural clustering is about 0.071, while functional clustering is around 0.27 to 0.33. So even after forcing the graphs to comparable densities, their topology does not match</a:t>
            </a:r>
            <a:br>
              <a:rPr lang="en-GB" sz="1200" b="0" i="0" kern="1200" dirty="0">
                <a:solidFill>
                  <a:schemeClr val="tx1"/>
                </a:solidFill>
                <a:effectLst/>
                <a:latin typeface="+mn-lt"/>
                <a:ea typeface="+mn-ea"/>
                <a:cs typeface="+mn-cs"/>
              </a:rPr>
            </a:b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So the overall message is: connectivity predicts function at the pair level, but the structural and functional networks are not topologically equivalent. </a:t>
            </a:r>
            <a:r>
              <a:rPr lang="en-GB" sz="1200" b="0" i="0" kern="1200">
                <a:solidFill>
                  <a:schemeClr val="tx1"/>
                </a:solidFill>
                <a:effectLst/>
                <a:latin typeface="+mn-lt"/>
                <a:ea typeface="+mn-ea"/>
                <a:cs typeface="+mn-cs"/>
              </a:rPr>
              <a:t>Anatomy shifts functional similarity locally, but it does not reproduce the global organization of the functional correlation network</a:t>
            </a:r>
            <a:endParaRPr lang="en-GB" dirty="0"/>
          </a:p>
        </p:txBody>
      </p:sp>
      <p:sp>
        <p:nvSpPr>
          <p:cNvPr id="4" name="Slide Number Placeholder 3"/>
          <p:cNvSpPr>
            <a:spLocks noGrp="1"/>
          </p:cNvSpPr>
          <p:nvPr>
            <p:ph type="sldNum" sz="quarter" idx="5"/>
          </p:nvPr>
        </p:nvSpPr>
        <p:spPr/>
        <p:txBody>
          <a:bodyPr/>
          <a:lstStyle/>
          <a:p>
            <a:fld id="{C470CF08-691C-47BD-8323-C27169DE5690}" type="slidenum">
              <a:rPr lang="en-GB" smtClean="0"/>
              <a:t>19</a:t>
            </a:fld>
            <a:endParaRPr lang="en-GB"/>
          </a:p>
        </p:txBody>
      </p:sp>
    </p:spTree>
    <p:extLst>
      <p:ext uri="{BB962C8B-B14F-4D97-AF65-F5344CB8AC3E}">
        <p14:creationId xmlns:p14="http://schemas.microsoft.com/office/powerpoint/2010/main" val="4294387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6.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7.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8.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9.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0.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6.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7.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8.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9.png"/>
          <p:cNvPicPr>
            <a:picLocks noChangeAspect="1"/>
          </p:cNvPicPr>
          <p:nvPr/>
        </p:nvPicPr>
        <p:blipFill>
          <a:blip r:embed="rId3"/>
          <a:stretch>
            <a:fillRect/>
          </a:stretch>
        </p:blipFill>
        <p:spPr>
          <a:xfrm>
            <a:off x="0" y="0"/>
            <a:ext cx="12191999" cy="68604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0.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1.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2.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3.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4.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5.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6.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7.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8.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29.png"/>
          <p:cNvPicPr>
            <a:picLocks noChangeAspect="1"/>
          </p:cNvPicPr>
          <p:nvPr/>
        </p:nvPicPr>
        <p:blipFill>
          <a:blip r:embed="rId2"/>
          <a:stretch>
            <a:fillRect/>
          </a:stretch>
        </p:blipFill>
        <p:spPr>
          <a:xfrm>
            <a:off x="0" y="0"/>
            <a:ext cx="12191999" cy="68604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387</Words>
  <Application>Microsoft Office PowerPoint</Application>
  <PresentationFormat>Custom</PresentationFormat>
  <Paragraphs>8</Paragraphs>
  <Slides>29</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Leonardo Cremona</cp:lastModifiedBy>
  <cp:revision>2</cp:revision>
  <dcterms:created xsi:type="dcterms:W3CDTF">2013-01-27T09:14:16Z</dcterms:created>
  <dcterms:modified xsi:type="dcterms:W3CDTF">2026-05-13T10:56:33Z</dcterms:modified>
  <cp:category/>
</cp:coreProperties>
</file>