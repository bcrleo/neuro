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611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703" autoAdjust="0"/>
  </p:normalViewPr>
  <p:slideViewPr>
    <p:cSldViewPr snapToGrid="0" snapToObjects="1">
      <p:cViewPr varScale="1">
        <p:scale>
          <a:sx n="72" d="100"/>
          <a:sy n="72" d="100"/>
        </p:scale>
        <p:origin x="107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6A4B2F-BC9D-41E1-8407-27B6D02BD224}" type="datetimeFigureOut">
              <a:rPr lang="en-GB" smtClean="0"/>
              <a:t>13/05/2026</a:t>
            </a:fld>
            <a:endParaRPr lang="en-GB"/>
          </a:p>
        </p:txBody>
      </p:sp>
      <p:sp>
        <p:nvSpPr>
          <p:cNvPr id="4" name="Slide Image Placeholder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70CF08-691C-47BD-8323-C27169DE5690}" type="slidenum">
              <a:rPr lang="en-GB" smtClean="0"/>
              <a:t>‹#›</a:t>
            </a:fld>
            <a:endParaRPr lang="en-GB"/>
          </a:p>
        </p:txBody>
      </p:sp>
    </p:spTree>
    <p:extLst>
      <p:ext uri="{BB962C8B-B14F-4D97-AF65-F5344CB8AC3E}">
        <p14:creationId xmlns:p14="http://schemas.microsoft.com/office/powerpoint/2010/main" val="310950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Now we move from pair-level effects to network-level structure. Up to this point, the main result was that directly connected pairs are more functionally similar. The question here is stricter: do the two whole networks have similar topology?</a:t>
            </a:r>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At the topology level, we are no longer asking whether one connected pair has higher correlation than one unconnected pair. We are asking whether structurally important neurons are also functionally important. So we compare node-level quantities like degree, synaptic strength, and mean functional coupling, as well as graph-level quantities like clustering. The main caveat is that the two networks are very different objects: the structural graph is sparse, directed, and synapse-weighted, while the functional graph is dense, symmetric, and signed. To bridge this gap, we implemented two main strategies</a:t>
            </a:r>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primary result is a partial Spearman correlation of about +0.110 after controlling for distance and area. That is statistically detectable, however it only explains about 1.2% of rank variance, so the effect is very small. When we add stricter controls like cell type or layer, the correlation drops to around +0.06 and is no longer robust after correction. In addition, if we ignore sign and use absolute functional correlation, the relationship is essentially gone. So the conclusion is not broad hub-to-hub matching, but a narrow weak signed alignment.</a:t>
            </a:r>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Because the functional matrix is dense, we also tried turning it into a sparse graph by thresholding it at densities matched to the structural graph. Across thresholds from 0.5x to 4x structural density, degree and strength coupling stay near zero, with maximum rho only around 0.03 and all p-values above 0.3. Clustering also looks very different: structural clustering is about 0.071, while functional clustering is around 0.27 to 0.33. So even after forcing the graphs to comparable densities, their topology does not match.</a:t>
            </a:r>
            <a:endParaRPr lang="en-GB" dirty="0"/>
          </a:p>
          <a:p>
            <a:r>
              <a:rPr lang="en-GB" sz="1200" b="0" i="0" kern="1200" dirty="0">
                <a:solidFill>
                  <a:schemeClr val="tx1"/>
                </a:solidFill>
                <a:effectLst/>
                <a:latin typeface="+mn-lt"/>
                <a:ea typeface="+mn-ea"/>
                <a:cs typeface="+mn-cs"/>
              </a:rPr>
              <a:t>The overall conclusion is: connectivity predicts function at the pair level, but the structural and functional networks are not topologically equivalent. Anatomy shifts functional similarity locally, but it does not reproduce the global organization of the functional correlation network.</a:t>
            </a:r>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1.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2.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3.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4.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5.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6.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7.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8.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9.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0.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1.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2.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3.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4.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5.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6.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7.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8.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9.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0.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1.png"/>
          <p:cNvPicPr>
            <a:picLocks noChangeAspect="1"/>
          </p:cNvPicPr>
          <p:nvPr/>
        </p:nvPicPr>
        <p:blipFill>
          <a:blip r:embed="rId3"/>
          <a:stretch>
            <a:fillRect/>
          </a:stretch>
        </p:blipFill>
        <p:spPr>
          <a:xfrm>
            <a:off x="0" y="0"/>
            <a:ext cx="12191999" cy="686041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2.png"/>
          <p:cNvPicPr>
            <a:picLocks noChangeAspect="1"/>
          </p:cNvPicPr>
          <p:nvPr/>
        </p:nvPicPr>
        <p:blipFill>
          <a:blip r:embed="rId3"/>
          <a:stretch>
            <a:fillRect/>
          </a:stretch>
        </p:blipFill>
        <p:spPr>
          <a:xfrm>
            <a:off x="0" y="0"/>
            <a:ext cx="12191999" cy="686041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3.png"/>
          <p:cNvPicPr>
            <a:picLocks noChangeAspect="1"/>
          </p:cNvPicPr>
          <p:nvPr/>
        </p:nvPicPr>
        <p:blipFill>
          <a:blip r:embed="rId3"/>
          <a:stretch>
            <a:fillRect/>
          </a:stretch>
        </p:blipFill>
        <p:spPr>
          <a:xfrm>
            <a:off x="0" y="0"/>
            <a:ext cx="12191999" cy="686041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4.png"/>
          <p:cNvPicPr>
            <a:picLocks noChangeAspect="1"/>
          </p:cNvPicPr>
          <p:nvPr/>
        </p:nvPicPr>
        <p:blipFill>
          <a:blip r:embed="rId3"/>
          <a:stretch>
            <a:fillRect/>
          </a:stretch>
        </p:blipFill>
        <p:spPr>
          <a:xfrm>
            <a:off x="0" y="0"/>
            <a:ext cx="12191999" cy="686041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5.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6.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7.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8.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9.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30.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31.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32.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33.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34.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387</Words>
  <Application>Microsoft Office PowerPoint</Application>
  <PresentationFormat>Custom</PresentationFormat>
  <Paragraphs>5</Paragraphs>
  <Slides>34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Leonardo Cremona</cp:lastModifiedBy>
  <cp:revision>2</cp:revision>
  <dcterms:created xsi:type="dcterms:W3CDTF">2013-01-27T09:14:16Z</dcterms:created>
  <dcterms:modified xsi:type="dcterms:W3CDTF">2026-05-13T15:56:06Z</dcterms:modified>
  <cp:category/>
</cp:coreProperties>
</file>